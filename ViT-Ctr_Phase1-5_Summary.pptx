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E444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ViT-Ctr 项目阶段性总结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97280" y="256032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基于Vision Transformer的RAFT链转移常数预测系统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– 5 完成情况审查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0" y="4114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2026年4月6日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27432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项目核心价值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005840"/>
            <a:ext cx="7680960" cy="1097280"/>
          </a:xfrm>
          <a:prstGeom prst="roundRect">
            <a:avLst>
              <a:gd name="adj" fmla="val 12500"/>
            </a:avLst>
          </a:prstGeom>
          <a:solidFill>
            <a:srgbClr val="1A3A4A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一次输入实验数据</a:t>
            </a:r>
            <a:pPr algn="ctr" indent="0" marL="0">
              <a:buNone/>
            </a:pPr>
            <a:r>
              <a:rPr lang="en-US" sz="18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，同时提取 </a:t>
            </a:r>
            <a:pPr algn="ctr" indent="0" marL="0">
              <a:buNone/>
            </a:pPr>
            <a:r>
              <a:rPr lang="en-US" sz="18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</a:t>
            </a:r>
            <a:pPr algn="ctr" indent="0" marL="0">
              <a:buNone/>
            </a:pPr>
            <a:r>
              <a:rPr lang="en-US" sz="18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诱导期</a:t>
            </a:r>
            <a:pPr algn="ctr" indent="0" marL="0">
              <a:buNone/>
            </a:pPr>
            <a:r>
              <a:rPr lang="en-US" sz="18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、</a:t>
            </a:r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减速因子</a:t>
            </a:r>
            <a:pPr algn="ctr" indent="0" marL="0">
              <a:buNone/>
            </a:pPr>
            <a:r>
              <a:rPr lang="en-US" sz="18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三个参数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传统方法需要三组独立实验才能分别获得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1B2838"/>
          </a:solidFill>
          <a:ln w="19050">
            <a:solidFill>
              <a:srgbClr val="5EA8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974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ODE模拟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1089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RAFT动力学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65960" y="2834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48840" y="256032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1B2838"/>
          </a:solidFill>
          <a:ln w="19050">
            <a:solidFill>
              <a:srgbClr val="5EA8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26974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ctFP编码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31089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64×64双通道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0" y="2834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3840480" y="256032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1B2838"/>
          </a:solidFill>
          <a:ln w="19050">
            <a:solidFill>
              <a:srgbClr val="FE44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6974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SimpViT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40480" y="31089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877K参数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49240" y="2834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532120" y="256032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1B2838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32120" y="26974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UQ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31089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200次×F分布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040880" y="2834640"/>
            <a:ext cx="182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223760" y="2560320"/>
            <a:ext cx="1508760" cy="1097280"/>
          </a:xfrm>
          <a:prstGeom prst="roundRect">
            <a:avLst>
              <a:gd name="adj" fmla="val 8333"/>
            </a:avLst>
          </a:prstGeom>
          <a:solidFill>
            <a:srgbClr val="1B2838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23760" y="269748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Web应用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23760" y="3108960"/>
            <a:ext cx="1508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776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B2838"/>
          </a:solidFill>
          <a:ln w="19050">
            <a:solidFill>
              <a:srgbClr val="5EA8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样本量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389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973,693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2560320" y="39776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B2838"/>
          </a:solidFill>
          <a:ln w="19050">
            <a:solidFill>
              <a:srgbClr val="FE4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6032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560320" y="4389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877,571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663440" y="39776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B2838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 (log₁₀Ctr)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663440" y="4389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0.991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6766560" y="397764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B2838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76656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计划完成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766560" y="43891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13/14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27432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总体进度一览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926080"/>
                <a:gridCol w="822960"/>
                <a:gridCol w="1463040"/>
                <a:gridCol w="146304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阶段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名称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计划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状态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完成日期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ODE基础与ctFP编码器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3/3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2026-03-26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大规模数据集生成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2026-03-27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模型训练与评估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2026-04-03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文献验证与Mayo基线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2/2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2026-04-04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Streamlit Web应用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1/2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0A5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论文与支撑材料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0/?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8909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started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3931920"/>
            <a:ext cx="7680960" cy="228600"/>
          </a:xfrm>
          <a:prstGeom prst="roundRect">
            <a:avLst>
              <a:gd name="adj" fmla="val 48000"/>
            </a:avLst>
          </a:prstGeom>
          <a:solidFill>
            <a:srgbClr val="263238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3931920"/>
            <a:ext cx="7135612" cy="228600"/>
          </a:xfrm>
          <a:prstGeom prst="roundRect">
            <a:avLst>
              <a:gd name="adj" fmla="val 48000"/>
            </a:avLst>
          </a:prstGeom>
          <a:solidFill>
            <a:srgbClr val="5EA8A7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92.9%  (13/14 plans)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27432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1：ODE基础与ctFP编码器（2026-03-26）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1B2838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RAFT动力学ODE模拟器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单平衡模型（14变量）：TTC/Xanthate/DTC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预平衡模型（16变量）：Dithioester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Radau求解器 + brentq转化率网格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3个文献体系验证通过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– CDB/苯乙烯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– TTC/MMA
</a:t>
            </a:r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– Xanthate/VAc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3657600"/>
          </a:xfrm>
          <a:prstGeom prst="roundRect">
            <a:avLst>
              <a:gd name="adj" fmla="val 2500"/>
            </a:avLst>
          </a:prstGeom>
          <a:solidFill>
            <a:srgbClr val="1B2838"/>
          </a:solidFill>
          <a:ln w="12700">
            <a:solidFill>
              <a:srgbClr val="FE4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005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ctFP指纹编码器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输入：(cta_ratio, conv, Mn, Đ)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输出：(2, 64, 64) PyTorch张量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Ch0 = Mn (归一化)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Ch1 = Đ (截断于4.0)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X轴 = [CTA]/[M]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Y轴 = conversion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训练/推理共享同一transform()函数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27432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2：大规模数据集生成（2026-03-27）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B2838"/>
          </a:solidFill>
          <a:ln w="1905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总样本数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973,693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560320" y="9144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B2838"/>
          </a:solidFill>
          <a:ln w="19050">
            <a:solidFill>
              <a:srgbClr val="FE4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RAFT类型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4种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B2838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数据总量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GB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766560" y="91440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B2838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标签维度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13258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3列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103120"/>
          <a:ext cx="6400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82880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RAFT类型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样本数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文件大小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Dithioester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243,365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7,634 MB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Trithiocarbonate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243,455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7,634 MB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Xanthate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243,417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7,634 MB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Dithiocarbamate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243,456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7,634 MB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采样策略：</a:t>
            </a:r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7维LHS（log10_Ctr, log10_kp, log10_kt, log10_kd, I0, f, log10_cta_ratio）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噪声注入：</a:t>
            </a:r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 = 0.03 (3%)  |  </a:t>
            </a:r>
            <a:pPr indent="0" marL="0"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数据划分：</a:t>
            </a:r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80/10/10 分层 (按log10_Ctr 0.5单位分箱)  |  </a:t>
            </a:r>
            <a:pPr indent="0" marL="0">
              <a:buNone/>
            </a:pPr>
            <a:r>
              <a:rPr lang="en-US" sz="11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格式：</a:t>
            </a:r>
            <a:pPr indent="0" marL="0"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chunked HDF5 (N, 64, 64, 2)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27432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3：模型训练与评估（2026-04-03）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B2838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SimpViT 架构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输入：(2, 64, 64) 双通道ctFP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Patch：16×16 → 16个token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2层Transformer, 4头自注意力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隐藏维度：64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输出：3维回归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参数量：877,571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1B2838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960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训练配置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32588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优化器：Adam (lr=3×10⁻⁴)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损失：加权MSE (2.0/0.5/0.5)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LR调度：ReduceLROnPlateau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早停：patience=15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硬件：RTX 4090 (CUDA)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142 epochs, best@126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1B2838"/>
          </a:solidFill>
          <a:ln w="12700">
            <a:solidFill>
              <a:srgbClr val="FE44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29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UQ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200次bootstrap迭代 × 5 epochs/head  |  冻结backbone，仅微调输出头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F分布联合置信区间：p=3, f.ppf(0.95, 3, 197) ≈ 2.65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事后校准因子：[100.0, 53.74, 3.51]  →  inhibition/retardation达95%覆盖率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总训练时间：9小时17分钟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27432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4：文献验证 — ML模型 vs Mayo方程（2026-04-04）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14个已发表Ctr值，4类RAFT剂 × 3种测量方法（Mayo/CLD/Dispersity）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280160"/>
          <a:ext cx="73152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18288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ML模型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Mayo方程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D1B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优势方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A8A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中位fold-error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1.17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0BEC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Mayo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2倍以内比例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85.7%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10倍以内比例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92.9%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RMSE (log₁₀)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0.558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R² (log₁₀)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0.991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E0E6E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DDC8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747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838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794760"/>
            <a:ext cx="7680960" cy="914400"/>
          </a:xfrm>
          <a:prstGeom prst="roundRect">
            <a:avLst>
              <a:gd name="adj" fmla="val 10000"/>
            </a:avLst>
          </a:prstGeom>
          <a:solidFill>
            <a:srgbClr val="1A3A4A"/>
          </a:solidFill>
          <a:ln w="12700">
            <a:solidFill>
              <a:srgbClr val="5EA8A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886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结论：</a:t>
            </a:r>
            <a:pPr indent="0" marL="0">
              <a:buNone/>
            </a:pPr>
            <a:r>
              <a:rPr lang="en-US" sz="12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ML模型在整体准确度（R²=0.991 vs 0.825）和鲁棒性（100% vs 92.9% 10×以内）上显著优于传统Mayo方程。Mayo在中位fold-error上更精确（1.01 vs 1.17），适合精密单点估计。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27432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5：Streamlit Web应用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1B2838"/>
          </a:solidFill>
          <a:ln w="1905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手动输入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[CTA]/[M], conv,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Mn, Đ 表格编辑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1B2838"/>
          </a:solidFill>
          <a:ln w="19050">
            <a:solidFill>
              <a:srgbClr val="FE4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文件上传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60604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Excel/CSV上传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模板下载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1B2838"/>
          </a:solidFill>
          <a:ln w="19050">
            <a:solidFill>
              <a:srgbClr val="F0A5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三参数预测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+ 诱导期 +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减速因子 + 95%CI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005840"/>
            <a:ext cx="1920240" cy="2011680"/>
          </a:xfrm>
          <a:prstGeom prst="roundRect">
            <a:avLst>
              <a:gd name="adj" fmla="val 5714"/>
            </a:avLst>
          </a:prstGeom>
          <a:solidFill>
            <a:srgbClr val="1B2838"/>
          </a:solidFill>
          <a:ln w="19050">
            <a:solidFill>
              <a:srgbClr val="3DDC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0" y="10972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ctFP可视化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903720" y="15544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双通道热力图</a:t>
            </a:r>
            <a:endParaRPr lang="en-US" sz="1100" dirty="0"/>
          </a:p>
          <a:p>
            <a:pPr algn="ctr"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数据编码展示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B2838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383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当前状态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0080" y="37490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Plan 1 完成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：app_utils.py (176行) + test_app_utils.py (240行) — 输入验证、归一化桥接、模板生成、结果格式化
</a:t>
            </a:r>
            <a:pPr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Plan 2 待验证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：app.py (378行) 已编码完成，含手动输入/Excel上传/预测/CI展示/ctFP热力图，待人工视觉验证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83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27432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论文写作准备清单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914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ODE物理模型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91840" y="914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验证通过，3个文献体系复现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16736"/>
            <a:ext cx="8229600" cy="457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898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1389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合成数据集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38988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973,693样本，4类RAFT剂全覆盖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792224"/>
            <a:ext cx="8229600" cy="457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653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186537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SimpViT模型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186537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R²=0.991，877K参数，训练完成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267712"/>
            <a:ext cx="8229600" cy="457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14400" y="234086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 UQ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91840" y="234086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200次迭代，95%覆盖率校准完成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8229600" cy="457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28163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2816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文献验证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291840" y="28163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14个Ctr值，ML vs Mayo对比完成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18688"/>
            <a:ext cx="8229600" cy="457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论文图表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291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19张图表已生成（parity/残差/验证/ODE）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94176"/>
            <a:ext cx="8229600" cy="457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7673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14400" y="37673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代码完整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291840" y="376732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~5,065行，11个测试文件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169664"/>
            <a:ext cx="8229600" cy="4572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14400" y="42428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Web应用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291840" y="424281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app.py已编码，待人工UI验证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EA8A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FE4447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7315200" cy="2194560"/>
          </a:xfrm>
          <a:prstGeom prst="roundRect">
            <a:avLst>
              <a:gd name="adj" fmla="val 6250"/>
            </a:avLst>
          </a:prstGeom>
          <a:solidFill>
            <a:srgbClr val="1A3A4A"/>
          </a:solidFill>
          <a:ln w="25400">
            <a:solidFill>
              <a:srgbClr val="5EA8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554480"/>
            <a:ext cx="69494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5EA8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1-4 全部完成，Phase 5 基本就绪
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ViT-Ctr 已具备进入 Phase 6（论文撰写）的全部前置条件：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物理模型验证通过   • 百万级数据集生成完毕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模型R²=0.991，优于Mayo基线   • UQ校准达95%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B0BEC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19张论文级图表就绪   • Web应用已编码
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3931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建议：</a:t>
            </a:r>
            <a:pPr algn="ctr" indent="0" marL="0">
              <a:buNone/>
            </a:pPr>
            <a:r>
              <a:rPr lang="en-US" sz="1400" dirty="0">
                <a:solidFill>
                  <a:srgbClr val="E0E6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可直接进入Phase 6论文撰写，Phase 5人工验证可并行进行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ViT-Ctr Phase 1-5 Summary Report</dc:title>
  <dc:subject>PptxGenJS Presentation</dc:subject>
  <dc:creator>ViT-Ctr Project</dc:creator>
  <cp:lastModifiedBy>ViT-Ctr Project</cp:lastModifiedBy>
  <cp:revision>1</cp:revision>
  <dcterms:created xsi:type="dcterms:W3CDTF">2026-04-06T02:59:26Z</dcterms:created>
  <dcterms:modified xsi:type="dcterms:W3CDTF">2026-04-06T02:59:26Z</dcterms:modified>
</cp:coreProperties>
</file>